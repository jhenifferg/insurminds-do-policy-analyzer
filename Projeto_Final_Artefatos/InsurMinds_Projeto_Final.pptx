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c075cf0ec1a41e3" Type="http://schemas.openxmlformats.org/package/2006/relationships/metadata/core-properties" Target="docProps/core.xml"/><Relationship Id="R39bf65769f3b4ffd" Type="http://schemas.openxmlformats.org/officeDocument/2006/relationships/extended-properties" Target="docProps/app.xml"/><Relationship Id="R5a86811ef898425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37987c3d5549e4"/>
  </p:sldMasterIdLst>
  <p:notesMasterIdLst>
    <p:notesMasterId xmlns:r="http://schemas.openxmlformats.org/officeDocument/2006/relationships" r:id="Rfe9d98010f5545d5"/>
  </p:notesMasterIdLst>
  <p:sldIdLst>
    <p:sldId xmlns:r="http://schemas.openxmlformats.org/officeDocument/2006/relationships" id="256" r:id="R4f9975f28cb94e9f"/>
    <p:sldId xmlns:r="http://schemas.openxmlformats.org/officeDocument/2006/relationships" id="257" r:id="Rb6ea4a7ed6ec43e1"/>
    <p:sldId xmlns:r="http://schemas.openxmlformats.org/officeDocument/2006/relationships" id="258" r:id="R56282d9fe742439f"/>
    <p:sldId xmlns:ns0="http://schemas.openxmlformats.org/officeDocument/2006/relationships" id="264" ns0:id="rId14"/>
    <p:sldId xmlns:r="http://schemas.openxmlformats.org/officeDocument/2006/relationships" id="259" r:id="Rc1875eb09f90410b"/>
    <p:sldId xmlns:r="http://schemas.openxmlformats.org/officeDocument/2006/relationships" id="260" r:id="Rd2e5a6691437490b"/>
    <p:sldId xmlns:r="http://schemas.openxmlformats.org/officeDocument/2006/relationships" id="261" r:id="Rfea3761545884144"/>
    <p:sldId xmlns:r="http://schemas.openxmlformats.org/officeDocument/2006/relationships" id="262" r:id="R758216f636174a87"/>
    <p:sldId xmlns:r="http://schemas.openxmlformats.org/officeDocument/2006/relationships" id="263" r:id="Rbe565fc909bf44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8805185aae4284" Type="http://schemas.openxmlformats.org/officeDocument/2006/relationships/theme" Target="theme/theme1.xml"/><Relationship Id="R4f9975f28cb94e9f" Type="http://schemas.openxmlformats.org/officeDocument/2006/relationships/slide" Target="slides/slide1.xml"/><Relationship Id="R56282d9fe742439f" Type="http://schemas.openxmlformats.org/officeDocument/2006/relationships/slide" Target="slides/slide3.xml"/><Relationship Id="R64a7b193167347dd" Type="http://schemas.openxmlformats.org/officeDocument/2006/relationships/presProps" Target="presProps.xml"/><Relationship Id="R758216f636174a87" Type="http://schemas.openxmlformats.org/officeDocument/2006/relationships/slide" Target="slides/slide7.xml"/><Relationship Id="Rb6ea4a7ed6ec43e1" Type="http://schemas.openxmlformats.org/officeDocument/2006/relationships/slide" Target="slides/slide2.xml"/><Relationship Id="Rbe565fc909bf4428" Type="http://schemas.openxmlformats.org/officeDocument/2006/relationships/slide" Target="slides/slide8.xml"/><Relationship Id="Rc1875eb09f90410b" Type="http://schemas.openxmlformats.org/officeDocument/2006/relationships/slide" Target="slides/slide4.xml"/><Relationship Id="Rd2e5a6691437490b" Type="http://schemas.openxmlformats.org/officeDocument/2006/relationships/slide" Target="slides/slide5.xml"/><Relationship Id="Rde97d932eff74d5e" Type="http://schemas.openxmlformats.org/officeDocument/2006/relationships/tableStyles" Target="tableStyles.xml"/><Relationship Id="Rf737987c3d5549e4" Type="http://schemas.openxmlformats.org/officeDocument/2006/relationships/slideMaster" Target="slideMasters/slideMaster1.xml"/><Relationship Id="Rfe9d98010f5545d5" Type="http://schemas.openxmlformats.org/officeDocument/2006/relationships/notesMaster" Target="notesMasters/notesMaster1.xml"/><Relationship Id="Rfea3761545884144" Type="http://schemas.openxmlformats.org/officeDocument/2006/relationships/slide" Target="slides/slide6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d88da4e9da36470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8c353b81d144c3c" Type="http://schemas.openxmlformats.org/officeDocument/2006/relationships/slide" Target="../slides/slide1.xml"/><Relationship Id="Rf86898f56c8347e9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90fdb7f60374d71" Type="http://schemas.openxmlformats.org/officeDocument/2006/relationships/slide" Target="../slides/slide2.xml"/><Relationship Id="Re472d82ef912474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d92eb18ecb64741" Type="http://schemas.openxmlformats.org/officeDocument/2006/relationships/notesMaster" Target="../notesMasters/notesMaster1.xml"/><Relationship Id="Rf069c78d76b1405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e6faa13127cb488a" Type="http://schemas.openxmlformats.org/officeDocument/2006/relationships/notesMaster" Target="../notesMasters/notesMaster1.xml"/><Relationship Id="Rf0b27b734a114b2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f798ed7f21d4a48" Type="http://schemas.openxmlformats.org/officeDocument/2006/relationships/slide" Target="../slides/slide5.xml"/><Relationship Id="Rf9c73ffe6c794fe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e86b6661c1649c8" Type="http://schemas.openxmlformats.org/officeDocument/2006/relationships/slide" Target="../slides/slide6.xml"/><Relationship Id="Rf5cbaa9d4b654f9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fd1fdb932fc4092" Type="http://schemas.openxmlformats.org/officeDocument/2006/relationships/slide" Target="../slides/slide7.xml"/><Relationship Id="R4d2bb02b1eca4bb6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35eea06c37c45b8" Type="http://schemas.openxmlformats.org/officeDocument/2006/relationships/notesMaster" Target="../notesMasters/notesMaster1.xml"/><Relationship Id="Racebdfeaf2404e85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enunciado do Projeto Final (pp. 20-23) e repositório InsurMinds (README, integrantes). Frentes: Jheniffer, IA, agentes e comparação; Matheus, IA, dados e desenvolvimento.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enunciado do Projeto Final, pp. 20-21; documento local Regras de Negócio do Projeto Final 6 InsurMinds I2A2.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docs/arquitetura.md; src/ingestion, src/extraction, src/llm, src/comparison, app/main.py e src/database. O agente envia lotes de até 16 chunks, em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documento local Regras de Negócio do Projeto Final 6 InsurMinds I2A2; src/extraction/models.py.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Saída real do app, executado com o Gemini (gemini-3.1-flash-lite) em 7 out 2026 sobre Apolice_DO_Ficticia_A.pdf e Apolice_DO_Ficticia_B.pdf: 10 critérios, 6 iguais, 2 diferenças e 2 para revisar. LMI/sublimites e extensões não foram localizados nas duas.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src/extraction/agent.py, src/extraction/models.py, src/comparison/engine.py e src/extraction/explainer.py.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código, README e execução da interface em 7 out 2026. Suíte pytest: 131 passaram, 1 ignorado por desenho. Teste real com dois documentos extensos: 180 critérios, 4 iguais, 0 diferenças, 176 para revisar. Nenhuma métrica de acurácia foi medida.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enunciado do Projeto Final, pp. 22-23, e limitações atuais do repositório.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Fontes: README (Tecnologias), docs/ia-agentes-automacao/README.md e requirements.txt. Adaptadores REST nativos, sem SDK 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61dd728f267c4ea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d99adb31ef54df2" Type="http://schemas.openxmlformats.org/officeDocument/2006/relationships/theme" Target="theme/theme2.xml"/><Relationship Id="R6217cde49fff4a1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17cde49fff4a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c382674c684436e" Type="http://schemas.openxmlformats.org/officeDocument/2006/relationships/notesSlide" Target="../notesSlides/notesSlide1.xml"/><Relationship Id="R960224f572fc439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83f460d16cc44ff" Type="http://schemas.openxmlformats.org/officeDocument/2006/relationships/notesSlide" Target="../notesSlides/notesSlide2.xml"/><Relationship Id="R5052125f86f142b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5d4325e4dbb4d73" Type="http://schemas.openxmlformats.org/officeDocument/2006/relationships/notesSlide" Target="../notesSlides/notesSlide3.xml"/><Relationship Id="R485c599b64204b1c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0bc1c5e90814ff2" Type="http://schemas.openxmlformats.org/officeDocument/2006/relationships/notesSlide" Target="../notesSlides/notesSlide4.xml"/><Relationship Id="Rde7b51a154e64b1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9a1b47a3006430e" Type="http://schemas.openxmlformats.org/officeDocument/2006/relationships/slideLayout" Target="../slideLayouts/slideLayout1.xml"/><Relationship Id="R7ea4e74b0720490f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73af4b3c287410d" Type="http://schemas.openxmlformats.org/officeDocument/2006/relationships/slideLayout" Target="../slideLayouts/slideLayout1.xml"/><Relationship Id="Rdbf56775b15540f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d00d0f0d0f7462f" Type="http://schemas.openxmlformats.org/officeDocument/2006/relationships/notesSlide" Target="../notesSlides/notesSlide7.xml"/><Relationship Id="R8c3357ff76fd4b9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c287b674a8047a7" Type="http://schemas.openxmlformats.org/officeDocument/2006/relationships/slideLayout" Target="../slideLayouts/slideLayout1.xml"/><Relationship Id="R6371ffc3db33439b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F4980-4AA1-48FF-95C7-9629258D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5D053-5A64-4F2B-96E4-7679EC21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1104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820C8-7F57-4549-BB0C-99CA275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DC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7DCDD"/>
                </a:solidFill>
                <a:latin typeface="Helvetica Neue"/>
                <a:ea typeface="Helvetica Neue"/>
                <a:cs typeface="Helvetica Neue"/>
              </a:rPr>
              <a:t>PROJETO FINAL I2A2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81DB0-9086-4962-919E-B79CD256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InsurMinds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482EA-9AA7-45C3-89EA-DC385C37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Análise e comparação de apólices D&amp;O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0782B-6D33-4CB3-9BD0-8CB91971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6E3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6E3E8"/>
                </a:solidFill>
                <a:latin typeface="Helvetica Neue"/>
                <a:ea typeface="Helvetica Neue"/>
                <a:cs typeface="Helvetica Neue"/>
              </a:rPr>
              <a:t>Extração estruturada com evidências para apoiar a revisão humana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91AEE-2A0A-4FC6-9D70-7366F2C3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27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74F53-1042-4A99-98F4-4406FAF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900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6E3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6E3E8"/>
                </a:solidFill>
                <a:latin typeface="Helvetica Neue"/>
                <a:ea typeface="Helvetica Neue"/>
                <a:cs typeface="Helvetica Neue"/>
              </a:rPr>
              <a:t>Jheniffer Guimarães | Ivania da Silva | Matheus Neves | Manoel da Silva Neto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71858-A02D-415B-B354-339E1896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900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E3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E3E8"/>
                </a:solidFill>
                <a:latin typeface="Helvetica Neue"/>
                <a:ea typeface="Helvetica Neue"/>
                <a:cs typeface="Helvetica Neue"/>
              </a:rPr>
              <a:t>Projeto académico,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9272F-3941-4051-9206-A791E083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DB2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DB2C1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77875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E46CF-3729-4E70-BB4F-01F5F472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3E115-84F2-48DC-A751-295E7D42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Análise de apólices D&amp;O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8591D-235D-4196-8F5C-234770D6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9947C-E384-4F8C-A999-0CBDB481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InsurMinds     2/9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DCB7A-8F81-46A5-ADC5-9312A810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93CF4-5AA5-40B7-B447-2466F19F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Trabalho atual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9E563-8528-4AAB-BA47-7CFFBB4C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19325"/>
            <a:ext cx="430530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Documentos extensos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Cláusulas jurídicas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Nomes diferentes para proteções semelhantes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Comparação manual demorada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F995D-F692-4778-BEB8-625A1BB4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7F301-541A-46DC-AABA-C1C775B6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 que a plataforma faz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82D25-DDC5-4F78-8016-F378DF05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449580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Extrai os campos relevantes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Mantém página e trecho de origem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Compara valores e cláusulas identificadas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Deixa incertezas para revisão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2BAB1-D9E3-4C2A-A998-6F6E0B31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 sistema organiza evidências. A decisão continua com a pessoa especialista.</a:t>
            </a:r>
          </a:p>
        </p:txBody>
      </p:sp>
    </p:spTree>
    <p:extLst>
      <p:ext uri="{BB962C8B-B14F-4D97-AF65-F5344CB8AC3E}">
        <p14:creationId xmlns:p14="http://schemas.microsoft.com/office/powerpoint/2010/main" val="476145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557C4-74DB-4EB0-9295-59B579F3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CD9BA-56ED-46A3-B29B-6E4A9DB6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Fluxo do protótipo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93E5C-D07D-44F7-8E18-30EB37AC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23E6E-62A8-4B20-92BB-131E154C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InsurMinds     3/9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1F61C-6328-4D70-812D-9CF09D1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038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591AF-9639-4CE3-8796-1B04EB9B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71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1  Documento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D29C0-F718-4541-84E6-2CCFB303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242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PDF ou imagem</a:t>
            </a:r>
          </a:p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seleção de duas apólices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1123A-C20C-427A-8880-349C335B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86000"/>
            <a:ext cx="2038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26904-037A-49AB-BCEC-C3956E61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71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2  Ingestão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DAD1B-E112-41F8-83FE-DEC7EE06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242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Texto nativo ou OCR</a:t>
            </a:r>
          </a:p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páginas e chunks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1B89A-655E-4428-9656-C7F21873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2038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9CE4B-F942-40F4-83CF-33FD5F41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  Extração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5F9B0-C592-4B7D-977D-2C21D05A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242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Gemini, fallback Groq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JSON validado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5E7D6-D751-489E-9342-101E62D2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86000"/>
            <a:ext cx="2038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0987B-DFD0-49A6-9BC7-BDDF791D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4  Comparação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4AE3F-2EE2-4B97-9711-85E42C23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242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37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Regras determinísticas</a:t>
            </a:r>
          </a:p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linhas com evidências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946A3-E053-499F-BB2C-34A86B1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2038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D668A-6DA2-45D9-AF8D-1870A18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71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5  Revisão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3751F-E4CF-42CD-9A24-377F443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242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Tabela, citações</a:t>
            </a:r>
          </a:p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explicação opcional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9DE98-421F-4D28-8031-3F7F325E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O PDF original não é guardado. O histórico SQLite é local e opcional.</a:t>
            </a:r>
          </a:p>
        </p:txBody>
      </p:sp>
    </p:spTree>
    <p:extLst>
      <p:ext uri="{BB962C8B-B14F-4D97-AF65-F5344CB8AC3E}">
        <p14:creationId xmlns:p14="http://schemas.microsoft.com/office/powerpoint/2010/main" val="1257497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BF71D-DD43-4F2A-BC7E-182916B7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98606-E59C-4B6A-BEDF-E714B267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Campos estruturados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F48C0-ADE9-4AAE-96DB-1C1A1F79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37186-3B77-4156-A816-F3BE6F8D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InsurMinds     5/9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71EB8-FE51-4866-9E28-B29B96BC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473B5-EE16-4CE5-ABAA-029C7B85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Identificação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92B77-9425-4E59-95E9-904DB4E0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495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Seguradora e número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Produto e ramo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Segurado e CNPJ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Endosso e emissão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6EDBD-E372-44B2-9E34-A6B2059D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1EFFF-875D-4018-9040-38788E9B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Tempo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33092-3842-4336-8C4E-53452DC8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5910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Início e fim de vigência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Retroatividade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Prazos complementar e suplementar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Run-off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42BDD-833D-4572-A8E5-61C84184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DEF25-DB95-484B-B687-5AC55984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7667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Limites e retenções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A448B-E69C-4757-893B-6976AFF0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4495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LMG e LMI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Sublimites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Franquia fixa, percentual ou mista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Moeda e base de cálculo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21289-B9C4-4F61-A2AD-D8C8720B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0AE63-E5A9-4A73-8565-8B12A509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76675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Cláusulas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57459-16B8-4140-BFC9-7F338705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45910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Coberturas e extensões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Exclusões e gatilhos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Taxonomia inicial conservadora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Citação por página e chunk</a:t>
            </a:r>
          </a:p>
        </p:txBody>
      </p:sp>
    </p:spTree>
    <p:extLst>
      <p:ext uri="{BB962C8B-B14F-4D97-AF65-F5344CB8AC3E}">
        <p14:creationId xmlns:p14="http://schemas.microsoft.com/office/powerpoint/2010/main" val="1459917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0CBD1-C334-443A-AAC0-9865E128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32256-5543-4A40-B0C3-0C51943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Resultado com apólices fictícias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44098-FD57-4D93-9ADA-A34C0F9C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D3046-9F91-484C-98A5-70BD147F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InsurMinds     6/9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D87DE-7D81-4919-BAF5-4B605CEA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267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DBA51-74B7-44B7-8E02-C6917530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Critério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9E782-ADD7-4657-80C2-C9FB132E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383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Apólice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664F9-17A7-44AD-9B7F-D35D4928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383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Apólice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019AC-B597-4AE3-9B76-30E8019C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383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Leitura factual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730EE-A61A-42AC-8860-0DB53412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267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8F484-63C2-40F7-BF6B-2F8D5A01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LMG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9C808-8EEB-4F7C-B000-3A5B7AED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622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R$ 5 milhões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1F0A5-034C-45A8-B9E9-BC497B41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622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R$ 10 milhões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3A5FA-F46F-4A25-878D-8629F337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622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B tem valor nominal maior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2E83D-A105-4823-9C6D-8BC64FB9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0267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45E59-5210-40C0-BB05-5535AF0D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861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Franquia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8E951-F517-496D-B2F5-41859B2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861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R$ 50 mil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BF487-887E-4F3E-9565-249163B9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6861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R$ 100 mil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6BD83-8312-4812-9DE3-44E56E80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61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B tem valor nominal maior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24FF9-B401-4B17-9C00-A792B9DF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267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95CE0-E8B6-4A48-B1C5-80D7A768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LMI / sublimites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7FFE8-1BA4-41AA-BAB0-8C58199C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100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Não localizado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B1920-5EBC-493B-A151-C2E4510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00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Não localizado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F9BC2-993C-49B8-B3E3-ADAA6F7C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00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Vai para revisão, não é ausência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0CAEB-BAD2-45FC-8C38-2AF4934D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 um item não foi localizado, o resultado pede revisão. Não assume que a cobertura inexiste.</a:t>
            </a:r>
          </a:p>
        </p:txBody>
      </p:sp>
    </p:spTree>
    <p:extLst>
      <p:ext uri="{BB962C8B-B14F-4D97-AF65-F5344CB8AC3E}">
        <p14:creationId xmlns:p14="http://schemas.microsoft.com/office/powerpoint/2010/main" val="1121056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9934B-0C1D-4CED-BD29-27AE43ED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183FA-47BE-4279-B331-10D20C3F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Evidência e revisão humana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04D1D-7479-4231-BFF0-9BF82606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565A2-7F13-4A50-92FB-2B176BC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InsurMinds     7/9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993DA-F0C8-4AE9-83A4-AD1232D6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41F4F-0DA9-490C-B58E-7CBD744E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Citação conferida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18684-3F86-4B6A-BD33-7AF3E9BF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591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O modelo devolve documento, página, chunk e trecho. O agente rejeita citações que não aparecem no texto de origem.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456C9-F275-4EFC-92D6-2609A958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8FCE2-225C-4353-AE60-59A859F3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Incerteza explícita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A3296-2C45-4553-BFA5-F23F105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591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Campos podem ficar encontrados, não localizados, ambíguos ou não aplicáveis. Conflitos entre lotes ficam ambíguos.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625D7-39D1-4E3C-987B-46F6A468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56869-281E-49EB-9572-CB8037DE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Comparação factual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8B61D-4F08-4EB5-BC14-55CE3FBA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591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Valores numéricos são comparados por regras. Cláusulas diferentes e itens não localizados permanecem para análise especializada.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13298-939B-408E-9F8E-A2C775FB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C1626-7A5F-4F75-9F6E-DC4FA2BD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Explicação limitada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18FDE-36E1-4F9B-BBBE-E1A03C9E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4591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A explicação opcional usa o relatório comparativo. O modelo não recomenda uma apólice como melhor.</a:t>
            </a:r>
          </a:p>
        </p:txBody>
      </p:sp>
    </p:spTree>
    <p:extLst>
      <p:ext uri="{BB962C8B-B14F-4D97-AF65-F5344CB8AC3E}">
        <p14:creationId xmlns:p14="http://schemas.microsoft.com/office/powerpoint/2010/main" val="15465476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A0BB-9011-4280-8116-5DD7DEAA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FE277-ED8D-4481-9803-ECCD2142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Estado do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0A6B0-EE8B-4C5F-886A-0F8159E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52746-3906-4737-A9FE-3F937BE3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InsurMinds     8/9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CBC73-08DE-47B7-B2F5-C53CD544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75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617F4-6D32-433B-8E0D-0CE8CA0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Já existe no código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5E0A0-A028-4EC7-B3D0-A8D55A19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59105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Ingestão PDF e OCR local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Extração com citações verificadas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Comparador determinístico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Interface Streamlit de duas apólices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Gemini, Groq (fallback) e OpenAI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131 testes e teste real com fictícias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53948-273F-4F92-806E-6149D7CD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2317F-B6AB-47CC-8773-0F6726A9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Falta validar ou concluir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7B677-E844-4CB3-9DA8-CBC051A1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59105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Documentos extensos: muita revisão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Métricas por campo (golden dataset)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Validação do schema com especialista</a:t>
            </a:r>
          </a:p>
          <a:p xmlns:a="http://schemas.openxmlformats.org/drawingml/2006/main">
            <a:pPr>
              <a:def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Gravação do vídeo de demonstração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19D53-1483-4580-802B-D1E8DA65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Fictícias: LMG e franquia corretos. Documentos reais longos: 176 de 180 critérios para revisar.</a:t>
            </a:r>
          </a:p>
        </p:txBody>
      </p:sp>
    </p:spTree>
    <p:extLst>
      <p:ext uri="{BB962C8B-B14F-4D97-AF65-F5344CB8AC3E}">
        <p14:creationId xmlns:p14="http://schemas.microsoft.com/office/powerpoint/2010/main" val="18012095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9ECBB-5BD7-43E7-B417-3CEEBF71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DBA40-AFD6-4D7F-8F8C-6D51387E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Próximas entregas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7218A-4576-47BF-9079-8DC751A6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9B3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8299F-D38F-48BE-9637-07F640DE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InsurMinds     9/9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81076-A88C-4A2C-B411-A4027D58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7D8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781D8-58D4-4316-BD16-2A5A4238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022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1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7C664-1010-4C02-B389-A81E86C2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Reduzir itens para revisão em documentos extensos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605B0-A2BA-4D0B-8839-66B9B642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72ECC-946F-4A27-B002-7FD31383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1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72EDD-2973-4F1C-933C-979ADDD5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Rever JSON e citações com especialista de seguros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3F973-A1B1-42BE-8662-F82FE567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48F5D-C874-4F3B-9BBB-7DAADDA4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1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D86C2-F916-427A-B6A0-9D47A5C8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Medir qualidade por campo num golden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4911E-F3A4-4746-AAD5-B8C92FD3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43BB6-F297-48DB-98C1-9FDC53A4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2907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1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750AB-86DA-4CC3-B993-6B431E86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Completar documentação e subir os artefatos no GitHub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419CA-F5C4-4720-AA82-E89C048C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B3F65-48B0-484D-B03B-7D58EE90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202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1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D4A8D-6DA1-45B0-AB88-3DCE352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Gravar vídeo de até cinco minutos com resultados reais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DD55F-69B2-4848-BCDC-710D991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InsurMinds organiza diferenças com evidências para uma decisão mais informada.</a:t>
            </a:r>
          </a:p>
        </p:txBody>
      </p:sp>
    </p:spTree>
    <p:extLst>
      <p:ext uri="{BB962C8B-B14F-4D97-AF65-F5344CB8AC3E}">
        <p14:creationId xmlns:p14="http://schemas.microsoft.com/office/powerpoint/2010/main" val="1731618207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">
            <a:extLst>
              <a:ext uri="{FF2B5EF4-FFF2-40B4-BE49-F238E27FC236}">
                <a16:creationId xmlns:a16="http://schemas.microsoft.com/office/drawing/2014/main" id="{6B7557C4-74DB-4EB0-9295-59B579F3AE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47D83"/>
          </a:solidFill>
          <a:ln w="0">
            <a:noFill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47CD9BA-56ED-46A3-B29B-6E4A9DB6E088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Tecnologias e agentes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AC693E5C-D07D-44F7-8E18-30EB37AC8AF1}"/>
              </a:ext>
            </a:extLst>
          </p:cNvPr>
          <p:cNvSpPr>
            <a:spLocks noGrp="1"/>
          </p:cNvSpPr>
          <p:nvPr/>
        </p:nvSpPr>
        <p:spPr>
          <a:xfrm>
            <a:off x="666750" y="1143000"/>
            <a:ext cx="762000" cy="47625"/>
          </a:xfrm>
          <a:prstGeom prst="rect">
            <a:avLst/>
          </a:prstGeom>
          <a:solidFill>
            <a:srgbClr val="D29B32"/>
          </a:solidFill>
          <a:ln w="0">
            <a:noFill/>
          </a:ln>
        </p:spPr>
        <p:txBody>
          <a:bodyPr/>
          <a:p/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7023E6E-62A8-4B20-92BB-131E154CF6DC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889"/>
          </a:bodyPr>
          <a:lstStyle/>
          <a:p>
            <a:pPr>
              <a:def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InsurMinds     4/9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A41F61C-6328-4D70-812D-9CF09D19EE4E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2038350" cy="2000250"/>
          </a:xfrm>
          <a:prstGeom prst="roundRect">
            <a:avLst>
              <a:gd name="adj" fmla="val 3810"/>
            </a:avLst>
          </a:prstGeom>
          <a:solidFill>
            <a:srgbClr val="EAF2F4"/>
          </a:solidFill>
          <a:ln w="0">
            <a:noFill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AA591AF-9639-4CE3-8796-1B04EB9BFCEE}"/>
              </a:ext>
            </a:extLst>
          </p:cNvPr>
          <p:cNvSpPr>
            <a:spLocks noGrp="1"/>
          </p:cNvSpPr>
          <p:nvPr/>
        </p:nvSpPr>
        <p:spPr>
          <a:xfrm>
            <a:off x="847725" y="25717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1  Interface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D6D29C0-F718-4541-84E6-2CCFB303720F}"/>
              </a:ext>
            </a:extLst>
          </p:cNvPr>
          <p:cNvSpPr>
            <a:spLocks noGrp="1"/>
          </p:cNvSpPr>
          <p:nvPr/>
        </p:nvSpPr>
        <p:spPr>
          <a:xfrm>
            <a:off x="847725" y="3124200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Streamlit</a:t>
            </a:r>
          </a:p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duas apólices</a:t>
            </a:r>
          </a:p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CSV e histórico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5E01123A-C20C-427A-8880-349C335B9F38}"/>
              </a:ext>
            </a:extLst>
          </p:cNvPr>
          <p:cNvSpPr>
            <a:spLocks noGrp="1"/>
          </p:cNvSpPr>
          <p:nvPr/>
        </p:nvSpPr>
        <p:spPr>
          <a:xfrm>
            <a:off x="2895600" y="2286000"/>
            <a:ext cx="2038350" cy="2000250"/>
          </a:xfrm>
          <a:prstGeom prst="roundRect">
            <a:avLst>
              <a:gd name="adj" fmla="val 3810"/>
            </a:avLst>
          </a:prstGeom>
          <a:solidFill>
            <a:srgbClr val="EAF2F4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7F526904-037A-49AB-BCEC-C3956E610988}"/>
              </a:ext>
            </a:extLst>
          </p:cNvPr>
          <p:cNvSpPr>
            <a:spLocks noGrp="1"/>
          </p:cNvSpPr>
          <p:nvPr/>
        </p:nvSpPr>
        <p:spPr>
          <a:xfrm>
            <a:off x="3057525" y="25717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2  Ingestão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9DDAD1B-E112-41F8-83FE-DEC7EE0638AC}"/>
              </a:ext>
            </a:extLst>
          </p:cNvPr>
          <p:cNvSpPr>
            <a:spLocks noGrp="1"/>
          </p:cNvSpPr>
          <p:nvPr/>
        </p:nvSpPr>
        <p:spPr>
          <a:xfrm>
            <a:off x="3057525" y="3124200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pypdf, PyMuPDF</a:t>
            </a:r>
          </a:p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OCR local com</a:t>
            </a:r>
          </a:p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Tesseract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A961B89A-655E-4428-9656-C7F21873822B}"/>
              </a:ext>
            </a:extLst>
          </p:cNvPr>
          <p:cNvSpPr>
            <a:spLocks noGrp="1"/>
          </p:cNvSpPr>
          <p:nvPr/>
        </p:nvSpPr>
        <p:spPr>
          <a:xfrm>
            <a:off x="5105400" y="2286000"/>
            <a:ext cx="2038350" cy="2000250"/>
          </a:xfrm>
          <a:prstGeom prst="roundRect">
            <a:avLst>
              <a:gd name="adj" fmla="val 3810"/>
            </a:avLst>
          </a:prstGeom>
          <a:solidFill>
            <a:srgbClr val="17324D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649CE4B-F942-40F4-83CF-33FD5F413D13}"/>
              </a:ext>
            </a:extLst>
          </p:cNvPr>
          <p:cNvSpPr>
            <a:spLocks noGrp="1"/>
          </p:cNvSpPr>
          <p:nvPr/>
        </p:nvSpPr>
        <p:spPr>
          <a:xfrm>
            <a:off x="5267325" y="25717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  Agentes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6A75F9B0-C592-4B7D-977D-2C21D05A2AB9}"/>
              </a:ext>
            </a:extLst>
          </p:cNvPr>
          <p:cNvSpPr>
            <a:spLocks noGrp="1"/>
          </p:cNvSpPr>
          <p:nvPr/>
        </p:nvSpPr>
        <p:spPr>
          <a:xfrm>
            <a:off x="5267325" y="3124200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ExtractionAgent</a:t>
            </a:r>
          </a:p>
          <a:p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ExplanationAgent</a:t>
            </a:r>
          </a:p>
          <a:p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Comparador (regras)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BC75E7D6-D751-489E-9342-101E62D250CB}"/>
              </a:ext>
            </a:extLst>
          </p:cNvPr>
          <p:cNvSpPr>
            <a:spLocks noGrp="1"/>
          </p:cNvSpPr>
          <p:nvPr/>
        </p:nvSpPr>
        <p:spPr>
          <a:xfrm>
            <a:off x="7315200" y="2286000"/>
            <a:ext cx="2038350" cy="2000250"/>
          </a:xfrm>
          <a:prstGeom prst="roundRect">
            <a:avLst>
              <a:gd name="adj" fmla="val 3810"/>
            </a:avLst>
          </a:prstGeom>
          <a:solidFill>
            <a:srgbClr val="EAF2F4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100987B-DFD0-49A6-9BC7-BDDF791D9C5F}"/>
              </a:ext>
            </a:extLst>
          </p:cNvPr>
          <p:cNvSpPr>
            <a:spLocks noGrp="1"/>
          </p:cNvSpPr>
          <p:nvPr/>
        </p:nvSpPr>
        <p:spPr>
          <a:xfrm>
            <a:off x="7477125" y="25717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4  Provedores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B404AE3F-2EE2-4B97-9711-85E42C237D26}"/>
              </a:ext>
            </a:extLst>
          </p:cNvPr>
          <p:cNvSpPr>
            <a:spLocks noGrp="1"/>
          </p:cNvSpPr>
          <p:nvPr/>
        </p:nvSpPr>
        <p:spPr>
          <a:xfrm>
            <a:off x="7477125" y="3124200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370"/>
          </a:bodyPr>
          <a:lstStyle/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Gemini primário</a:t>
            </a:r>
          </a:p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Groq fallback</a:t>
            </a:r>
          </a:p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OpenAI manual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1B946A3-E053-499F-BB2C-34A86B1520F0}"/>
              </a:ext>
            </a:extLst>
          </p:cNvPr>
          <p:cNvSpPr>
            <a:spLocks noGrp="1"/>
          </p:cNvSpPr>
          <p:nvPr/>
        </p:nvSpPr>
        <p:spPr>
          <a:xfrm>
            <a:off x="9525000" y="2286000"/>
            <a:ext cx="2038350" cy="2000250"/>
          </a:xfrm>
          <a:prstGeom prst="roundRect">
            <a:avLst>
              <a:gd name="adj" fmla="val 3810"/>
            </a:avLst>
          </a:prstGeom>
          <a:solidFill>
            <a:srgbClr val="EAF2F4"/>
          </a:solidFill>
          <a:ln w="0">
            <a:noFill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01D668A-6DA2-45D9-AF8D-1870A18A5AB5}"/>
              </a:ext>
            </a:extLst>
          </p:cNvPr>
          <p:cNvSpPr>
            <a:spLocks noGrp="1"/>
          </p:cNvSpPr>
          <p:nvPr/>
        </p:nvSpPr>
        <p:spPr>
          <a:xfrm>
            <a:off x="9686925" y="25717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5  Dados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FA23751F-E4CF-42CD-9A24-377F4430FD6B}"/>
              </a:ext>
            </a:extLst>
          </p:cNvPr>
          <p:cNvSpPr>
            <a:spLocks noGrp="1"/>
          </p:cNvSpPr>
          <p:nvPr/>
        </p:nvSpPr>
        <p:spPr>
          <a:xfrm>
            <a:off x="9686925" y="3124200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Pydantic v2</a:t>
            </a:r>
          </a:p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>
            <a:pPr>
              <a:def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63746"/>
                </a:solidFill>
                <a:latin typeface="Helvetica Neue"/>
                <a:ea typeface="Helvetica Neue"/>
                <a:cs typeface="Helvetica Neue"/>
              </a:rPr>
              <a:t>131 testes pytest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239DE98-421F-4D28-8031-3F7F325E819F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0"/>
          </a:bodyPr>
          <a:lstStyle/>
          <a:p>
            <a:pPr>
              <a:defRPr sz="157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1717E"/>
                </a:solidFill>
                <a:latin typeface="Helvetica Neue"/>
                <a:ea typeface="Helvetica Neue"/>
                <a:cs typeface="Helvetica Neue"/>
              </a:rPr>
              <a:t>O LLM extrai e explica. Regras determinísticas comparam. Nenhum agente decide qual apólice é melhor.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2026-10-03T10:38:29.4750000Z</dcterms:created>
  <dcterms:modified xsi:type="dcterms:W3CDTF">2026-10-03T10:38:29.4750000Z</dcterms:modified>
</coreProperties>
</file>