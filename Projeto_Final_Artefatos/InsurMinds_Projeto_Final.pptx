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075cf0ec1a41e3" /><Relationship Type="http://schemas.openxmlformats.org/officeDocument/2006/relationships/extended-properties" Target="/docProps/app.xml" Id="R39bf65769f3b4ffd" /><Relationship Type="http://schemas.openxmlformats.org/officeDocument/2006/relationships/officeDocument" Target="/ppt/presentation.xml" Id="R5a86811ef89842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37987c3d5549e4"/>
  </p:sldMasterIdLst>
  <p:notesMasterIdLst>
    <p:notesMasterId xmlns:r="http://schemas.openxmlformats.org/officeDocument/2006/relationships" r:id="Rfe9d98010f5545d5"/>
  </p:notesMasterIdLst>
  <p:sldIdLst>
    <p:sldId xmlns:r="http://schemas.openxmlformats.org/officeDocument/2006/relationships" id="256" r:id="R4f9975f28cb94e9f"/>
    <p:sldId xmlns:r="http://schemas.openxmlformats.org/officeDocument/2006/relationships" id="257" r:id="Rb6ea4a7ed6ec43e1"/>
    <p:sldId xmlns:r="http://schemas.openxmlformats.org/officeDocument/2006/relationships" id="258" r:id="R56282d9fe742439f"/>
    <p:sldId xmlns:r="http://schemas.openxmlformats.org/officeDocument/2006/relationships" id="259" r:id="Rc1875eb09f90410b"/>
    <p:sldId xmlns:r="http://schemas.openxmlformats.org/officeDocument/2006/relationships" id="260" r:id="Rd2e5a6691437490b"/>
    <p:sldId xmlns:r="http://schemas.openxmlformats.org/officeDocument/2006/relationships" id="261" r:id="Rfea3761545884144"/>
    <p:sldId xmlns:r="http://schemas.openxmlformats.org/officeDocument/2006/relationships" id="262" r:id="R758216f636174a87"/>
    <p:sldId xmlns:r="http://schemas.openxmlformats.org/officeDocument/2006/relationships" id="263" r:id="Rbe565fc909bf44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8805185aae4284" /><Relationship Type="http://schemas.openxmlformats.org/officeDocument/2006/relationships/slideMaster" Target="/ppt/slideMasters/slideMaster1.xml" Id="Rf737987c3d5549e4" /><Relationship Type="http://schemas.openxmlformats.org/officeDocument/2006/relationships/notesMaster" Target="/ppt/notesMasters/notesMaster1.xml" Id="Rfe9d98010f5545d5" /><Relationship Type="http://schemas.openxmlformats.org/officeDocument/2006/relationships/presProps" Target="/ppt/presProps.xml" Id="R64a7b193167347dd" /><Relationship Type="http://schemas.openxmlformats.org/officeDocument/2006/relationships/tableStyles" Target="/ppt/tableStyles.xml" Id="Rde97d932eff74d5e" /><Relationship Type="http://schemas.openxmlformats.org/officeDocument/2006/relationships/slide" Target="/ppt/slides/slide1.xml" Id="R4f9975f28cb94e9f" /><Relationship Type="http://schemas.openxmlformats.org/officeDocument/2006/relationships/slide" Target="/ppt/slides/slide2.xml" Id="Rb6ea4a7ed6ec43e1" /><Relationship Type="http://schemas.openxmlformats.org/officeDocument/2006/relationships/slide" Target="/ppt/slides/slide3.xml" Id="R56282d9fe742439f" /><Relationship Type="http://schemas.openxmlformats.org/officeDocument/2006/relationships/slide" Target="/ppt/slides/slide4.xml" Id="Rc1875eb09f90410b" /><Relationship Type="http://schemas.openxmlformats.org/officeDocument/2006/relationships/slide" Target="/ppt/slides/slide5.xml" Id="Rd2e5a6691437490b" /><Relationship Type="http://schemas.openxmlformats.org/officeDocument/2006/relationships/slide" Target="/ppt/slides/slide6.xml" Id="Rfea3761545884144" /><Relationship Type="http://schemas.openxmlformats.org/officeDocument/2006/relationships/slide" Target="/ppt/slides/slide7.xml" Id="R758216f636174a87" /><Relationship Type="http://schemas.openxmlformats.org/officeDocument/2006/relationships/slide" Target="/ppt/slides/slide8.xml" Id="Rbe565fc909bf44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8da4e9da3647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c353b81d144c3c" /><Relationship Type="http://schemas.openxmlformats.org/officeDocument/2006/relationships/notesMaster" Target="/ppt/notesMasters/notesMaster1.xml" Id="Rf86898f56c8347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0fdb7f60374d71" /><Relationship Type="http://schemas.openxmlformats.org/officeDocument/2006/relationships/notesMaster" Target="/ppt/notesMasters/notesMaster1.xml" Id="Re472d82ef91247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69c78d76b1405a" /><Relationship Type="http://schemas.openxmlformats.org/officeDocument/2006/relationships/notesMaster" Target="/ppt/notesMasters/notesMaster1.xml" Id="R8d92eb18ecb647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b27b734a114b27" /><Relationship Type="http://schemas.openxmlformats.org/officeDocument/2006/relationships/notesMaster" Target="/ppt/notesMasters/notesMaster1.xml" Id="Re6faa13127cb48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798ed7f21d4a48" /><Relationship Type="http://schemas.openxmlformats.org/officeDocument/2006/relationships/notesMaster" Target="/ppt/notesMasters/notesMaster1.xml" Id="Rf9c73ffe6c794f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86b6661c1649c8" /><Relationship Type="http://schemas.openxmlformats.org/officeDocument/2006/relationships/notesMaster" Target="/ppt/notesMasters/notesMaster1.xml" Id="Rf5cbaa9d4b654f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d1fdb932fc4092" /><Relationship Type="http://schemas.openxmlformats.org/officeDocument/2006/relationships/notesMaster" Target="/ppt/notesMasters/notesMaster1.xml" Id="R4d2bb02b1eca4b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ebdfeaf2404e85" /><Relationship Type="http://schemas.openxmlformats.org/officeDocument/2006/relationships/notesMaster" Target="/ppt/notesMasters/notesMaster1.xml" Id="R335eea06c37c45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enunciado do Projeto Final fornecido pelo grupo, pp. 20-23; repositório InsurMinds. Completar no slide ou na apresentação oral os nomes dos restantes integrantes.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do Projeto Final, pp. 20-21; documento local Regras de Negócio do Projeto Final 6 InsurMinds I2A2.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docs/arquitetura.md; src/ingestion, src/extraction, src/llm, src/comparison, app/main.py e src/database.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documento local Regras de Negócio do Projeto Final 6 InsurMinds I2A2; src/extraction/models.py.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Exemplo ilustrativo transcrito do golden dataset no documento Regras de Negócio. Não é uma análise executada pelo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src/extraction/agent.py, src/extraction/models.py, src/comparison/engine.py e src/extraction/explainer.py.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código local e README.md em 3 out 2026. Código de aplicação e relatório ainda precisam de validação ao vivo com chave/modelo.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do Projeto Final, pp. 22-23, e limitações atuais do repositório.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dd728f267c4e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99adb31ef54df2" /><Relationship Type="http://schemas.openxmlformats.org/officeDocument/2006/relationships/slideLayout" Target="/ppt/slideLayouts/slideLayout1.xml" Id="R6217cde49fff4a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17cde49fff4a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224f572fc4396" /><Relationship Type="http://schemas.openxmlformats.org/officeDocument/2006/relationships/notesSlide" Target="/ppt/notesSlides/notesSlide1.xml" Id="R7c382674c68443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2125f86f142bc" /><Relationship Type="http://schemas.openxmlformats.org/officeDocument/2006/relationships/notesSlide" Target="/ppt/notesSlides/notesSlide2.xml" Id="R083f460d16cc44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c599b64204b1c" /><Relationship Type="http://schemas.openxmlformats.org/officeDocument/2006/relationships/notesSlide" Target="/ppt/notesSlides/notesSlide3.xml" Id="R45d4325e4dbb4d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b51a154e64b13" /><Relationship Type="http://schemas.openxmlformats.org/officeDocument/2006/relationships/notesSlide" Target="/ppt/notesSlides/notesSlide4.xml" Id="R00bc1c5e90814f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1b47a3006430e" /><Relationship Type="http://schemas.openxmlformats.org/officeDocument/2006/relationships/notesSlide" Target="/ppt/notesSlides/notesSlide5.xml" Id="R7ea4e74b072049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af4b3c287410d" /><Relationship Type="http://schemas.openxmlformats.org/officeDocument/2006/relationships/notesSlide" Target="/ppt/notesSlides/notesSlide6.xml" Id="Rdbf56775b15540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357ff76fd4b9a" /><Relationship Type="http://schemas.openxmlformats.org/officeDocument/2006/relationships/notesSlide" Target="/ppt/notesSlides/notesSlide7.xml" Id="R1d00d0f0d0f746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87b674a8047a7" /><Relationship Type="http://schemas.openxmlformats.org/officeDocument/2006/relationships/notesSlide" Target="/ppt/notesSlides/notesSlide8.xml" Id="R6371ffc3db3343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2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F4980-4AA1-48FF-95C7-9629258D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5D053-5A64-4F2B-96E4-7679EC21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95375"/>
            <a:ext cx="11049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820C8-7F57-4549-BB0C-99CA2758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7DCD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B7DCDD"/>
                </a:solidFill>
                <a:latin typeface="Helvetica Neue"/>
                <a:ea typeface="Helvetica Neue"/>
                <a:cs typeface="Helvetica Neue"/>
              </a:rPr>
              <a:t>PROJETO FINAL I2A2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81DB0-9086-4962-919E-B79CD256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24000"/>
            <a:ext cx="9906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InsurMinds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482EA-9AA7-45C3-89EA-DC385C37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981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Análise e comparação de apólices D&amp;O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0782B-6D33-4CB3-9BD0-8CB91971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rPr>
              <a:t>Extração estruturada com evidências para apoiar a revisão humana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91AEE-2A0A-4FC6-9D70-7366F2C3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627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74F53-1042-4A99-98F4-4406FAF8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435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rPr>
              <a:t>Jheniffer Guimarães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71858-A02D-415B-B354-339E1896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208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D6E3E8"/>
                </a:solidFill>
                <a:latin typeface="Helvetica Neue"/>
                <a:ea typeface="Helvetica Neue"/>
                <a:cs typeface="Helvetica Neue"/>
              </a:rPr>
              <a:t>IA, agentes e comparação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9272F-3941-4051-9206-A791E083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150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208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DB2C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DB2C1"/>
                </a:solidFill>
                <a:latin typeface="Helvetica Neue"/>
                <a:ea typeface="Helvetica Neue"/>
                <a:cs typeface="Helvetica Neue"/>
              </a:rPr>
              <a:t>Projeto académico, 2026</a:t>
            </a:r>
          </a:p>
        </p:txBody>
      </p:sp>
    </p:spTree>
    <p:extLst>
      <p:ext uri="{BB962C8B-B14F-4D97-AF65-F5344CB8AC3E}">
        <p14:creationId xmlns:p14="http://schemas.microsoft.com/office/powerpoint/2010/main" val="19778754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CE46CF-3729-4E70-BB4F-01F5F472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3E115-84F2-48DC-A751-295E7D42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Análise de apólices D&amp;O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8591D-235D-4196-8F5C-234770D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9947C-E384-4F8C-A999-0CBDB481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2/8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DCB7A-8F81-46A5-ADC5-9312A810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3CF4-5AA5-40B7-B447-2466F19F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Trabalho atual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9E563-8528-4AAB-BA47-7CFFBB4C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19325"/>
            <a:ext cx="4305300" cy="2695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Documentos extensos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Cláusulas jurídicas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Nomes diferentes para proteções semelhantes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Comparação manual demorada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F995D-F692-4778-BEB8-625A1BB4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07F301-541A-46DC-AABA-C1C775B6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O que a plataforma faz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82D25-DDC5-4F78-8016-F378DF05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19325"/>
            <a:ext cx="4495800" cy="2695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Extrai os campos relevantes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Mantém página e trecho de origem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Compara valores e cláusulas identificadas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Deixa incertezas para revisão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2BAB1-D9E3-4C2A-A998-6F6E0B31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76875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O sistema organiza evidências. A decisão continua com a pessoa especialista.</a:t>
            </a:r>
          </a:p>
        </p:txBody>
      </p:sp>
    </p:spTree>
    <p:extLst>
      <p:ext uri="{BB962C8B-B14F-4D97-AF65-F5344CB8AC3E}">
        <p14:creationId xmlns:p14="http://schemas.microsoft.com/office/powerpoint/2010/main" val="4761451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7557C4-74DB-4EB0-9295-59B579F3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CD9BA-56ED-46A3-B29B-6E4A9DB6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Fluxo do protótipo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93E5C-D07D-44F7-8E18-30EB37AC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23E6E-62A8-4B20-92BB-131E154C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3/8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1F61C-6328-4D70-812D-9CF09D19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038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591AF-9639-4CE3-8796-1B04EB9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rPr>
              <a:t>1  Documento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D29C0-F718-4541-84E6-2CCFB303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124200"/>
            <a:ext cx="171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PDF ou imagem</a:t>
            </a:r>
          </a:p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seleção de duas apólices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1123A-C20C-427A-8880-349C335B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2038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26904-037A-49AB-BCEC-C3956E6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71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rPr>
              <a:t>2  Ingestão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DAD1B-E112-41F8-83FE-DEC7EE06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124200"/>
            <a:ext cx="171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Texto nativo ou OCR</a:t>
            </a:r>
          </a:p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páginas e chunks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1B89A-655E-4428-9656-C7F21873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2038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9CE4B-F942-40F4-83CF-33FD5F41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571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  Extração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5F9B0-C592-4B7D-977D-2C21D05A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124200"/>
            <a:ext cx="171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LLM em lotes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JSON validado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75E7D6-D751-489E-9342-101E62D2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86000"/>
            <a:ext cx="2038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0987B-DFD0-49A6-9BC7-BDDF791D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71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rPr>
              <a:t>4  Comparação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04AE3F-2EE2-4B97-9711-85E42C23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24200"/>
            <a:ext cx="171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37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Regras determinísticas</a:t>
            </a:r>
          </a:p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linhas com evidências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B946A3-E053-499F-BB2C-34A86B15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0"/>
            <a:ext cx="20383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D668A-6DA2-45D9-AF8D-1870A18A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71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47D83"/>
                </a:solidFill>
                <a:latin typeface="Helvetica Neue"/>
                <a:ea typeface="Helvetica Neue"/>
                <a:cs typeface="Helvetica Neue"/>
              </a:rPr>
              <a:t>5  Revisão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3751F-E4CF-42CD-9A24-377F4430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124200"/>
            <a:ext cx="171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Tabela, citações</a:t>
            </a:r>
          </a:p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explicação opcional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39DE98-421F-4D28-8031-3F7F325E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O PDF original não é guardado. O histórico SQLite é local e opcional.</a:t>
            </a:r>
          </a:p>
        </p:txBody>
      </p:sp>
    </p:spTree>
    <p:extLst>
      <p:ext uri="{BB962C8B-B14F-4D97-AF65-F5344CB8AC3E}">
        <p14:creationId xmlns:p14="http://schemas.microsoft.com/office/powerpoint/2010/main" val="12574976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BF71D-DD43-4F2A-BC7E-182916B7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98606-E59C-4B6A-BEDF-E714B267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Campos estruturados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F48C0-ADE9-4AAE-96DB-1C1A1F79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37186-3B77-4156-A816-F3BE6F8D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4/8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71EB8-FE51-4866-9E28-B29B96BC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A473B5-EE16-4CE5-ABAA-029C7B8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Identificação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92B77-9425-4E59-95E9-904DB4E0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44958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Seguradora e número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Produto e ramo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Segurado e CNPJ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Endosso e emissão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16EDBD-E372-44B2-9E34-A6B2059D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1EFFF-875D-4018-9040-38788E9B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Tempo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33092-3842-4336-8C4E-53452DC8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5910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Início e fim de vigência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Retroatividade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Prazos complementar e suplementar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Run-off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42BDD-833D-4572-A8E5-61C84184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57625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DEF25-DB95-484B-B687-5AC55984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76675"/>
            <a:ext cx="453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Limites e retenções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A448B-E69C-4757-893B-6976AFF0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44958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LMG e LMI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Sublimites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Franquia fixa, percentual ou mista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Moeda e base de cálculo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21289-B9C4-4F61-A2AD-D8C8720B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0AE63-E5A9-4A73-8565-8B12A509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766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Cláusulas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57459-16B8-4140-BFC9-7F338705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67200"/>
            <a:ext cx="45910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Coberturas e extensões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Exclusões e gatilhos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Taxonomia inicial conservadora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Citação por página e chunk</a:t>
            </a:r>
          </a:p>
        </p:txBody>
      </p:sp>
    </p:spTree>
    <p:extLst>
      <p:ext uri="{BB962C8B-B14F-4D97-AF65-F5344CB8AC3E}">
        <p14:creationId xmlns:p14="http://schemas.microsoft.com/office/powerpoint/2010/main" val="14599178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70CBD1-C334-443A-AAC0-9865E128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232256-5543-4A40-B0C3-0C519435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Diferenças com fonte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44098-FD57-4D93-9ADA-A34C0F9C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D3046-9F91-484C-98A5-70BD147F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D87DE-7D81-4919-BAF5-4B605CEA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0267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DBA51-74B7-44B7-8E02-C6917530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Critério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9E782-ADD7-4657-80C2-C9FB132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2383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Apólice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0664F9-17A7-44AD-9B7F-D35D4928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2383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Apólice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019AC-B597-4AE3-9B76-30E8019C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38375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Leitura factual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730EE-A61A-42AC-8860-0DB53412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0267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8F484-63C2-40F7-BF6B-2F8D5A01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62275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LMG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9C808-8EEB-4F7C-B000-3A5B7AED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9622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R$ 50 milhões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1F0A5-034C-45A8-B9E9-BC497B41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9622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R$ 100 milhões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3A5FA-F46F-4A25-878D-8629F337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62275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B tem valor nominal maior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2E83D-A105-4823-9C6D-8BC64F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0267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45E59-5210-40C0-BB05-5535AF0D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86175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Franquia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48E951-F517-496D-B2F5-41859B2D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861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R$ 50 mil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8BF487-887E-4F3E-9565-249163B9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6861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R$ 100 mil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36BD83-8312-4812-9DE3-44E56E80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86175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B tem valor nominal maior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24FF9-B401-4B17-9C00-A792B9DF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10267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D95CE0-E8B6-4A48-B1C5-80D7A768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0075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Side 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7FFE8-1BA4-41AA-BAB0-8C58199C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100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Identificada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B1920-5EBC-493B-A151-C2E45109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410075"/>
            <a:ext cx="1762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Identificada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0F9BC2-993C-49B8-B3E3-ADAA6F7C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410075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Sem diferença no exemplo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0CAEB-BAD2-45FC-8C38-2AF4934D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Se um item não foi localizado, o resultado pede revisão. Não assume que a cobertura inexiste.</a:t>
            </a:r>
          </a:p>
        </p:txBody>
      </p:sp>
    </p:spTree>
    <p:extLst>
      <p:ext uri="{BB962C8B-B14F-4D97-AF65-F5344CB8AC3E}">
        <p14:creationId xmlns:p14="http://schemas.microsoft.com/office/powerpoint/2010/main" val="11210564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09934B-0C1D-4CED-BD29-27AE43ED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183FA-47BE-4279-B331-10D20C3F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Evidência e revisão humana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04D1D-7479-4231-BFF0-9BF82606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565A2-7F13-4A50-92FB-2B176BC0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6/8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993DA-F0C8-4AE9-83A4-AD1232D6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4762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41F4F-0DA9-490C-B58E-7CBD744E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Citação conferida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18684-3F86-4B6A-BD33-7AF3E9BF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45910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O modelo devolve documento, página, chunk e trecho. O agente rejeita citações que não aparecem no texto de origem.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456C9-F275-4EFC-92D6-2609A958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762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8FCE2-225C-4353-AE60-59A859F3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Incerteza explícita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A3296-2C45-4553-BFA5-F23F105E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5910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Campos podem ficar encontrados, não localizados, ambíguos ou não aplicáveis. Conflitos entre lotes ficam ambíguos.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F625D7-39D1-4E3C-987B-46F6A468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56869-281E-49EB-9572-CB8037DE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14800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Comparação factual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8B61D-4F08-4EB5-BC14-55CE3FBA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5910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Valores numéricos são comparados por regras. Cláusulas diferentes e itens não localizados permanecem para análise especializada.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413298-939B-408E-9F8E-A2C775FB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957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C1626-7A5F-4F75-9F6E-DC4FA2BD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Explicação limitada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A18FDE-36E1-4F9B-BBBE-E1A03C9E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05325"/>
            <a:ext cx="45910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A explicação opcional usa o relatório comparativo. O modelo não recomenda uma apólice como melhor.</a:t>
            </a:r>
          </a:p>
        </p:txBody>
      </p:sp>
    </p:spTree>
    <p:extLst>
      <p:ext uri="{BB962C8B-B14F-4D97-AF65-F5344CB8AC3E}">
        <p14:creationId xmlns:p14="http://schemas.microsoft.com/office/powerpoint/2010/main" val="15465476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49A0BB-9011-4280-8116-5DD7DEAA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FE277-ED8D-4481-9803-ECCD2142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Estado do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0A6B0-EE8B-4C5F-886A-0F8159E2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52746-3906-4737-A9FE-3F937BE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7/8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CBC73-08DE-47B7-B2F5-C53CD54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75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617F4-6D32-433B-8E0D-0CE8CA0D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Já existe no código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25E0A0-A028-4EC7-B3D0-A8D55A19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4591050" cy="2695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Ingestão PDF e OCR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Agente de extração com schema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Comparador e relatório com evidências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Interface de duas apólices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Histórico local opcional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53948-273F-4F92-806E-6149D7CD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2317F-B6AB-47CC-8773-0F6726A9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4629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Falta validar ou concluir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7B677-E844-4CB3-9DA8-CBC051A1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4591050" cy="2695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Execução com modelo real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Instalação limpa do app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Golden dataset e métricas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Nomes de todos os integrantes</a:t>
            </a:r>
          </a:p>
          <a:p xmlns:a="http://schemas.openxmlformats.org/drawingml/2006/main">
            <a:pPr>
              <a:def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Gravação da demonstração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19D53-1483-4580-802B-D1E8DA65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Nenhum resultado de acurácia é declarado nesta versão.</a:t>
            </a:r>
          </a:p>
        </p:txBody>
      </p:sp>
    </p:spTree>
    <p:extLst>
      <p:ext uri="{BB962C8B-B14F-4D97-AF65-F5344CB8AC3E}">
        <p14:creationId xmlns:p14="http://schemas.microsoft.com/office/powerpoint/2010/main" val="18012095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49ECBB-5BD7-43E7-B417-3CEEBF71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DBA40-AFD6-4D7F-8F8C-6D51387E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Próximas entregas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7218A-4576-47BF-9079-8DC751A6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9B3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8299F-D38F-48BE-9637-07F640DE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1717E"/>
                </a:solidFill>
                <a:latin typeface="Helvetica Neue"/>
                <a:ea typeface="Helvetica Neue"/>
                <a:cs typeface="Helvetica Neue"/>
              </a:rPr>
              <a:t>InsurMinds     8/8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81076-A88C-4A2C-B411-A4027D58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430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47D83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781D8-58D4-4316-BD16-2A5A4238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022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491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7C664-1010-4C02-B389-A81E86C2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526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Executar o fluxo com duas apólices públicas ou autorizadas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605B0-A2BA-4D0B-8839-66B9B642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860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72ECC-946F-4A27-B002-7FD31383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4317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491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72EDD-2973-4F1C-933C-979ADDD5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955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Rever JSON e citações com especialista de seguros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3F973-A1B1-42BE-8662-F82FE567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289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148F5D-C874-4F3B-9BBB-7DAADDA4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8612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491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D86C2-F916-427A-B6A0-9D47A5C8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38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Medir qualidade por campo num golden dataset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4911E-F3A4-4746-AAD5-B8C92FD3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43BB6-F297-48DB-98C1-9FDC53A4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2907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491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750AB-86DA-4CC3-B993-6B431E86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814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Completar nomes da equipa e documentação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419CA-F5C4-4720-AA82-E89C048C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148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B3F65-48B0-484D-B03B-7D58EE90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72025"/>
            <a:ext cx="228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491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BD4A8D-6DA1-45B0-AB88-3DCE3521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63746"/>
                </a:solidFill>
                <a:latin typeface="Helvetica Neue"/>
                <a:ea typeface="Helvetica Neue"/>
                <a:cs typeface="Helvetica Neue"/>
              </a:rPr>
              <a:t>Gravar vídeo de até cinco minutos com resultados reais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5DD55F-69B2-4848-BCDC-710D9918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InsurMinds organiza diferenças com evidências para uma decisão mais informada.</a:t>
            </a:r>
          </a:p>
        </p:txBody>
      </p:sp>
    </p:spTree>
    <p:extLst>
      <p:ext uri="{BB962C8B-B14F-4D97-AF65-F5344CB8AC3E}">
        <p14:creationId xmlns:p14="http://schemas.microsoft.com/office/powerpoint/2010/main" val="17316182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2026-10-03T10:38:29.4750000Z</dcterms:created>
  <dcterms:modified xsi:type="dcterms:W3CDTF">2026-10-03T10:38:29.4750000Z</dcterms:modified>
</coreProperties>
</file>